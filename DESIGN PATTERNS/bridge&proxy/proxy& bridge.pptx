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QuattrocentoSa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02920" y="502920"/>
            <a:ext cx="502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7000"/>
              <a:buFont typeface="Trebuchet MS"/>
              <a:buNone/>
            </a:pPr>
            <a:r>
              <a:rPr b="1" i="0" lang="en-US" sz="70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Proxy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1508760"/>
            <a:ext cx="502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7000"/>
              <a:buFont typeface="Trebuchet MS"/>
              <a:buNone/>
            </a:pPr>
            <a:r>
              <a:rPr b="1" i="0" lang="en-US" sz="70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vs Bridge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2697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Design Patterns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32004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Real-world examples  ·  Structure  ·  When to use 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760720" y="109728"/>
            <a:ext cx="3383280" cy="5033772"/>
          </a:xfrm>
          <a:prstGeom prst="rect">
            <a:avLst/>
          </a:prstGeom>
          <a:solidFill>
            <a:srgbClr val="E0F4F1"/>
          </a:solidFill>
          <a:ln cap="flat" cmpd="sng" w="12700">
            <a:solidFill>
              <a:srgbClr val="E0F4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309360" y="502920"/>
            <a:ext cx="1005840" cy="100584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59436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5760720" y="16459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PROXY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760720" y="20299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Access control surrogate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6035040" y="2468880"/>
            <a:ext cx="2834640" cy="0"/>
          </a:xfrm>
          <a:prstGeom prst="straightConnector1">
            <a:avLst/>
          </a:prstGeom>
          <a:noFill/>
          <a:ln cap="flat" cmpd="sng" w="1015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6309360" y="2697480"/>
            <a:ext cx="1005840" cy="1005840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7889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5760720" y="382219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BRIDGE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760720" y="4206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Decoupled hierarchies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 Design Patterns  ·  GoF Catalog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623560" y="109728"/>
            <a:ext cx="137160" cy="5033772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02920" y="1005840"/>
            <a:ext cx="640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234440" y="1170432"/>
            <a:ext cx="530352" cy="530352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121615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1920240" y="109728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Proxy Pattern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920240" y="1481328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Intent, structure &amp; door lock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02920" y="1965960"/>
            <a:ext cx="640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234440" y="2130552"/>
            <a:ext cx="530352" cy="530352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0" y="217627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1920240" y="20574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Bridge Pattern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920240" y="2441448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Intent, structure &amp; notification system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02920" y="2926080"/>
            <a:ext cx="640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234440" y="3090672"/>
            <a:ext cx="530352" cy="530352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160" y="313639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1920240" y="30175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Head-to-Head Comparison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920240" y="3401568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Side-by-side across 6 key dimensions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3886200"/>
            <a:ext cx="640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234440" y="4050792"/>
            <a:ext cx="530352" cy="530352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0160" y="40965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1920240" y="39776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When to Use Each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920240" y="4361688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Decision guide for choosing the right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109728"/>
            <a:ext cx="3291840" cy="5033772"/>
          </a:xfrm>
          <a:prstGeom prst="rect">
            <a:avLst/>
          </a:prstGeom>
          <a:solidFill>
            <a:srgbClr val="E0F4F1"/>
          </a:solidFill>
          <a:ln cap="flat" cmpd="sng" w="12700">
            <a:solidFill>
              <a:srgbClr val="E0F4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291840" y="109728"/>
            <a:ext cx="128016" cy="5033772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051560" y="502920"/>
            <a:ext cx="1188720" cy="118872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432" y="621792"/>
            <a:ext cx="950976" cy="9509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82880" y="187452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Proxy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82880" y="254203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Pattern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82880" y="3127248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"A stand-in that controls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access to the real thing."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566160" y="18288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INTENT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566160" y="548640"/>
            <a:ext cx="5303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Provide a surrogate object that intercepts requests before forwarding to the real object — adding behavior without modifying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5"/>
          <p:cNvCxnSpPr/>
          <p:nvPr/>
        </p:nvCxnSpPr>
        <p:spPr>
          <a:xfrm>
            <a:off x="3566160" y="1371600"/>
            <a:ext cx="5212080" cy="0"/>
          </a:xfrm>
          <a:prstGeom prst="straightConnector1">
            <a:avLst/>
          </a:prstGeom>
          <a:noFill/>
          <a:ln cap="flat" cmpd="sng" w="10150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5"/>
          <p:cNvSpPr/>
          <p:nvPr/>
        </p:nvSpPr>
        <p:spPr>
          <a:xfrm>
            <a:off x="3566160" y="148132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566160" y="1901952"/>
            <a:ext cx="5303520" cy="694944"/>
          </a:xfrm>
          <a:prstGeom prst="rect">
            <a:avLst/>
          </a:prstGeom>
          <a:solidFill>
            <a:srgbClr val="E0F4F1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703320" y="1993392"/>
            <a:ext cx="502920" cy="50292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20391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4343400" y="1956816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Access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343400" y="228600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Auth, subscriptions, permissions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566160" y="2724912"/>
            <a:ext cx="5303520" cy="694944"/>
          </a:xfrm>
          <a:prstGeom prst="rect">
            <a:avLst/>
          </a:prstGeom>
          <a:solidFill>
            <a:srgbClr val="FFF8E7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703320" y="2816352"/>
            <a:ext cx="502920" cy="502920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9040" y="28620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4343400" y="2779776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Caching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343400" y="310896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Store expensive results transparently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566160" y="3547872"/>
            <a:ext cx="5303520" cy="694944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703320" y="3639312"/>
            <a:ext cx="502920" cy="502920"/>
          </a:xfrm>
          <a:prstGeom prst="ellipse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9040" y="36850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4343400" y="3602736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Logging / Audit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343400" y="39319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Track calls without touching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566160" y="470916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0897B"/>
                </a:solidFill>
                <a:latin typeface="Courier New"/>
                <a:ea typeface="Courier New"/>
                <a:cs typeface="Courier New"/>
                <a:sym typeface="Courier New"/>
              </a:rPr>
              <a:t>Client  →  Proxy  →  RealSubject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Proxy Pattern — In Plain English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A middleman that controls who gets through — without changing what’s behind the door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20040" y="1066800"/>
            <a:ext cx="26305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20040" y="1066800"/>
            <a:ext cx="2630520" cy="914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11480" y="1188720"/>
            <a:ext cx="243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🚪</a:t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11480" y="1798560"/>
            <a:ext cx="243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The Bouncer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80" y="2194560"/>
            <a:ext cx="24384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nightclub bouncer stands between you and the venue. He checks your ID, logs entry, and turns away troublemakers — all without touching anything inside.</a:t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11480" y="3157920"/>
            <a:ext cx="2438400" cy="274320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Bouncer = Proxy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256920" y="1066800"/>
            <a:ext cx="26305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3256920" y="1066800"/>
            <a:ext cx="263052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348360" y="1188720"/>
            <a:ext cx="243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🏧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348360" y="1798560"/>
            <a:ext cx="243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The ATM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348360" y="2194560"/>
            <a:ext cx="24384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You never touch your bank’s vault. The ATM verifies your PIN, logs the withdrawal, then grants access. The vault is never modified.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348360" y="3157920"/>
            <a:ext cx="2438400" cy="274320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ATM = Proxy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193800" y="1066800"/>
            <a:ext cx="26305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193800" y="1066800"/>
            <a:ext cx="2630520" cy="914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285240" y="1188720"/>
            <a:ext cx="243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📋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285240" y="1798560"/>
            <a:ext cx="243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Personal Assistant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285240" y="2194560"/>
            <a:ext cx="24384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CEO’s assistant screens all calls and visitors. You talk to the assistant, not the CEO directly. They filter, log, and pass through only what matters.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285240" y="3157920"/>
            <a:ext cx="2438400" cy="274320"/>
          </a:xfrm>
          <a:prstGeom prst="rect">
            <a:avLst/>
          </a:prstGeom>
          <a:solidFill>
            <a:srgbClr val="FEECEC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Assistant = Proxy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20040" y="448128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 all cases: the real thing stays untouched — the proxy handles the gate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82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960120" y="16459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Proxy in Action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960120" y="5669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Door Lock Access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20040" y="932688"/>
            <a:ext cx="4709160" cy="3931920"/>
          </a:xfrm>
          <a:prstGeom prst="rect">
            <a:avLst/>
          </a:prstGeom>
          <a:solidFill>
            <a:srgbClr val="1A3A5C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7200" y="1024128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DB6AC"/>
                </a:solidFill>
                <a:latin typeface="Courier New"/>
                <a:ea typeface="Courier New"/>
                <a:cs typeface="Courier New"/>
                <a:sym typeface="Courier New"/>
              </a:rPr>
              <a:t>class DoorProxy: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7200" y="1271016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user):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57200" y="1517904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B0C4D8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self.user = 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1764792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B0C4D8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self.door = RealDoor()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2011680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def open(self):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7200" y="2258568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not self.user.is_admin: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2505456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"Access denied"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2752344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self.user.is_blocked: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2999232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6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8A6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"Entry blocked"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3246120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65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8A65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print(f"Log: {self.user.name} entered")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3493008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DB6AC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self.door.open()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3739896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C784"/>
              </a:buClr>
              <a:buSzPts val="1050"/>
              <a:buFont typeface="Courier New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3986784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57200" y="4233672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212080" y="932688"/>
            <a:ext cx="36118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212080" y="932688"/>
            <a:ext cx="73152" cy="11430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349240" y="932688"/>
            <a:ext cx="548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989320" y="10972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Admin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989320" y="1499616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Blocks non-admin users before RealDoor is touched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212080" y="2240280"/>
            <a:ext cx="36118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212080" y="2240280"/>
            <a:ext cx="73152" cy="1143000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349240" y="2240280"/>
            <a:ext cx="548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E53935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989320" y="240487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Block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989320" y="2807208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Prevents blocked users from entering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212080" y="3547872"/>
            <a:ext cx="36118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212080" y="3547872"/>
            <a:ext cx="73152" cy="11430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349240" y="3547872"/>
            <a:ext cx="548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989320" y="3712464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Audit Logging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989320" y="411480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Logs every entry without touching RealDoor logic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0040" y="4882896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RealDoor is never modified — the proxy intercepts transparently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852160" y="109728"/>
            <a:ext cx="3291840" cy="5033772"/>
          </a:xfrm>
          <a:prstGeom prst="rect">
            <a:avLst/>
          </a:prstGeom>
          <a:solidFill>
            <a:srgbClr val="FFF8E7"/>
          </a:solidFill>
          <a:ln cap="flat" cmpd="sng" w="12700">
            <a:solidFill>
              <a:srgbClr val="FFF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5724144" y="109728"/>
            <a:ext cx="128016" cy="503377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812280" y="502920"/>
            <a:ext cx="1188720" cy="1188720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1152" y="621792"/>
            <a:ext cx="950976" cy="95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5852160" y="18745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Bridge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852160" y="254203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Trebuchet MS"/>
              <a:buNone/>
            </a:pPr>
            <a:r>
              <a:rPr b="0" i="0" lang="en-US" sz="2000" u="none" cap="none" strike="noStrike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Pattern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852160" y="3127248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"Two class trees,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one clean connection."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1828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INTENT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57200" y="548640"/>
            <a:ext cx="5029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Separate what an object does from how it does it — so both sides can evolve without touching each other.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1417320"/>
            <a:ext cx="2331720" cy="329184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02920" y="1417320"/>
            <a:ext cx="2240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Without Bridge — 6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" y="1828800"/>
            <a:ext cx="1417320" cy="402336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57200" y="1828800"/>
            <a:ext cx="1417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LowEmail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993392" y="1828800"/>
            <a:ext cx="1417320" cy="402336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993392" y="1828800"/>
            <a:ext cx="1417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HighEmail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529584" y="1828800"/>
            <a:ext cx="1417320" cy="402336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529584" y="1828800"/>
            <a:ext cx="1417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LowSMS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7200" y="2331720"/>
            <a:ext cx="1417320" cy="402336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57200" y="2331720"/>
            <a:ext cx="1417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HighSMS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993392" y="2331720"/>
            <a:ext cx="1417320" cy="402336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993392" y="2331720"/>
            <a:ext cx="1417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LowPush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529584" y="2331720"/>
            <a:ext cx="1417320" cy="402336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3529584" y="2331720"/>
            <a:ext cx="1417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HighPush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8"/>
          <p:cNvCxnSpPr/>
          <p:nvPr/>
        </p:nvCxnSpPr>
        <p:spPr>
          <a:xfrm>
            <a:off x="457200" y="2926080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8"/>
          <p:cNvSpPr/>
          <p:nvPr/>
        </p:nvSpPr>
        <p:spPr>
          <a:xfrm>
            <a:off x="457200" y="3035808"/>
            <a:ext cx="2011680" cy="329184"/>
          </a:xfrm>
          <a:prstGeom prst="rect">
            <a:avLst/>
          </a:prstGeom>
          <a:solidFill>
            <a:srgbClr val="E0F4F1"/>
          </a:solidFill>
          <a:ln cap="flat" cmpd="sng" w="9525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02920" y="3035808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With Bridge — 5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3493008"/>
            <a:ext cx="1600200" cy="402336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57200" y="3493008"/>
            <a:ext cx="1600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LowPriority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57200" y="3995928"/>
            <a:ext cx="1600200" cy="402336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57200" y="3995928"/>
            <a:ext cx="1600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HighPriority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148840" y="3621024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697480" y="3493008"/>
            <a:ext cx="1188720" cy="292608"/>
          </a:xfrm>
          <a:prstGeom prst="rect">
            <a:avLst/>
          </a:prstGeom>
          <a:solidFill>
            <a:srgbClr val="4DB6AC"/>
          </a:solidFill>
          <a:ln cap="flat" cmpd="sng" w="127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2697480" y="349300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697480" y="3840480"/>
            <a:ext cx="1188720" cy="292608"/>
          </a:xfrm>
          <a:prstGeom prst="rect">
            <a:avLst/>
          </a:prstGeom>
          <a:solidFill>
            <a:srgbClr val="4DB6AC"/>
          </a:solidFill>
          <a:ln cap="flat" cmpd="sng" w="127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2697480" y="38404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697480" y="4187952"/>
            <a:ext cx="1188720" cy="292608"/>
          </a:xfrm>
          <a:prstGeom prst="rect">
            <a:avLst/>
          </a:prstGeom>
          <a:solidFill>
            <a:srgbClr val="4DB6AC"/>
          </a:solidFill>
          <a:ln cap="flat" cmpd="sng" w="127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2697480" y="418795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57200" y="4754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Freely combinable — adding Slack requires just 1 new class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960120" y="16459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Bridge in Action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960120" y="5669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Notification System — Email, SMS, Push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65760" y="9601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ABSTRACTION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65760" y="126187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What to send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9"/>
          <p:cNvCxnSpPr/>
          <p:nvPr/>
        </p:nvCxnSpPr>
        <p:spPr>
          <a:xfrm>
            <a:off x="365760" y="1517904"/>
            <a:ext cx="3383280" cy="0"/>
          </a:xfrm>
          <a:prstGeom prst="straightConnector1">
            <a:avLst/>
          </a:prstGeom>
          <a:noFill/>
          <a:ln cap="flat" cmpd="sng" w="15225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9"/>
          <p:cNvSpPr/>
          <p:nvPr/>
        </p:nvSpPr>
        <p:spPr>
          <a:xfrm>
            <a:off x="5486400" y="9601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486400" y="126187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How to send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>
            <a:off x="5486400" y="1517904"/>
            <a:ext cx="3383280" cy="0"/>
          </a:xfrm>
          <a:prstGeom prst="straightConnector1">
            <a:avLst/>
          </a:prstGeom>
          <a:noFill/>
          <a:ln cap="flat" cmpd="sng" w="152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9"/>
          <p:cNvSpPr/>
          <p:nvPr/>
        </p:nvSpPr>
        <p:spPr>
          <a:xfrm>
            <a:off x="4023360" y="91440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4DB6AC"/>
                </a:solidFill>
                <a:latin typeface="Calibri"/>
                <a:ea typeface="Calibri"/>
                <a:cs typeface="Calibri"/>
                <a:sym typeface="Calibri"/>
              </a:rPr>
              <a:t>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65760" y="1664208"/>
            <a:ext cx="3383280" cy="1371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65760" y="1664208"/>
            <a:ext cx="91440" cy="13716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94360" y="1847088"/>
            <a:ext cx="2971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LowPriority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94360" y="2350008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FYI: {event}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65760" y="3264408"/>
            <a:ext cx="3383280" cy="1371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65760" y="3264408"/>
            <a:ext cx="91440" cy="1371600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94360" y="3447288"/>
            <a:ext cx="2971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HighPriority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94360" y="3950208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🚨 URGENT — action required: {event}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840480" y="219456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840480" y="35204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486400" y="1664208"/>
            <a:ext cx="3383280" cy="8046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596128" y="1792224"/>
            <a:ext cx="548640" cy="54864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1848" y="183794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6263640" y="1664208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EmailSender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486400" y="2624328"/>
            <a:ext cx="3383280" cy="8046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596128" y="2752344"/>
            <a:ext cx="548640" cy="54864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1848" y="279806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6263640" y="2624328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SMSSender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6400" y="3584448"/>
            <a:ext cx="3383280" cy="8046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596128" y="3712464"/>
            <a:ext cx="548640" cy="54864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41848" y="37581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6263640" y="3584448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PushSender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Adding Slack = 1 new class. No existing classes change.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960120" y="16459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Bridge in Action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60120" y="5669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Notification System — Python Example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20040" y="932688"/>
            <a:ext cx="4709160" cy="3931920"/>
          </a:xfrm>
          <a:prstGeom prst="rect">
            <a:avLst/>
          </a:prstGeom>
          <a:solidFill>
            <a:srgbClr val="1A3A5C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457200" y="975960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DB6AC"/>
                </a:solidFill>
                <a:latin typeface="Courier New"/>
                <a:ea typeface="Courier New"/>
                <a:cs typeface="Courier New"/>
                <a:sym typeface="Courier New"/>
              </a:rPr>
              <a:t>class Sender:</a:t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57200" y="1222848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def send(self, msg): pass</a:t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457200" y="1469736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DB6AC"/>
                </a:solidFill>
                <a:latin typeface="Courier New"/>
                <a:ea typeface="Courier New"/>
                <a:cs typeface="Courier New"/>
                <a:sym typeface="Courier New"/>
              </a:rPr>
              <a:t>class EmailSender(Sender):</a:t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57200" y="1716624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B0C4D8"/>
                </a:solidFill>
                <a:latin typeface="Courier New"/>
                <a:ea typeface="Courier New"/>
                <a:cs typeface="Courier New"/>
                <a:sym typeface="Courier New"/>
              </a:rPr>
              <a:t>    def send(self, msg):</a:t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457200" y="1963512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C78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1C784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print(f"Email: {msg}")</a:t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57200" y="2210400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DB6AC"/>
                </a:solidFill>
                <a:latin typeface="Courier New"/>
                <a:ea typeface="Courier New"/>
                <a:cs typeface="Courier New"/>
                <a:sym typeface="Courier New"/>
              </a:rPr>
              <a:t>class SMSSender(Sender):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57200" y="2457288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B0C4D8"/>
                </a:solidFill>
                <a:latin typeface="Courier New"/>
                <a:ea typeface="Courier New"/>
                <a:cs typeface="Courier New"/>
                <a:sym typeface="Courier New"/>
              </a:rPr>
              <a:t>    def send(self, msg):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57200" y="2704176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C78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1C784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print(f"SMS: {msg}")</a:t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457200" y="2951064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class Notification: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57200" y="3197952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sender):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57200" y="3444840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B0C4D8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self.sender = sender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57200" y="3691728"/>
            <a:ext cx="44348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def notify(self, msg): pass</a:t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320040" y="4882896"/>
            <a:ext cx="4709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Swap EmailSender for SMSSender — Notification never changes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212080" y="932688"/>
            <a:ext cx="36118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5212080" y="932688"/>
            <a:ext cx="73152" cy="1143000"/>
          </a:xfrm>
          <a:prstGeom prst="rect">
            <a:avLst/>
          </a:prstGeom>
          <a:solidFill>
            <a:srgbClr val="4DB6AC"/>
          </a:solidFill>
          <a:ln cap="flat" cmpd="sng" w="127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349240" y="932688"/>
            <a:ext cx="548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4DB6AC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989320" y="10972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Side</a:t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5989320" y="1499616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EmailSender and SMSSender are HOW — the delivery channel</a:t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212080" y="2240280"/>
            <a:ext cx="36118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212080" y="2240280"/>
            <a:ext cx="73152" cy="11430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349240" y="2240280"/>
            <a:ext cx="548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5989320" y="240487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Abstraction Side</a:t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5989320" y="2807208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Notification is WHAT — it holds the message logic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5212080" y="3547872"/>
            <a:ext cx="36118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212080" y="3547872"/>
            <a:ext cx="73152" cy="1143000"/>
          </a:xfrm>
          <a:prstGeom prst="rect">
            <a:avLst/>
          </a:prstGeom>
          <a:solidFill>
            <a:srgbClr val="81C784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349240" y="3547872"/>
            <a:ext cx="548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C784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81C784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5989320" y="3712464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Easy to Extend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5989320" y="411480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Add PushSender with 1 new class — nothing else changes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0" y="109728"/>
            <a:ext cx="182880" cy="5033772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Head-to-Head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2743200" y="7772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PROXY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715000" y="7772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1"/>
          <p:cNvCxnSpPr/>
          <p:nvPr/>
        </p:nvCxnSpPr>
        <p:spPr>
          <a:xfrm>
            <a:off x="365760" y="1115568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1"/>
          <p:cNvSpPr/>
          <p:nvPr/>
        </p:nvSpPr>
        <p:spPr>
          <a:xfrm>
            <a:off x="365760" y="1170432"/>
            <a:ext cx="8412480" cy="676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502920" y="1170432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Purpose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2697480" y="1280160"/>
            <a:ext cx="64008" cy="4572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2852928" y="1170432"/>
            <a:ext cx="2743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Control access to ONE object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687568" y="1280160"/>
            <a:ext cx="64008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5833872" y="1170432"/>
            <a:ext cx="2834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Decouple abstraction from 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365760" y="1901952"/>
            <a:ext cx="8412480" cy="676656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502920" y="1901952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Class 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2697480" y="2011680"/>
            <a:ext cx="64008" cy="4572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2852928" y="1901952"/>
            <a:ext cx="2743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One proxy per real object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687568" y="2011680"/>
            <a:ext cx="64008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5833872" y="1901952"/>
            <a:ext cx="2834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Two independent class hierarchies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65760" y="2633472"/>
            <a:ext cx="8412480" cy="676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502920" y="2633472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Flexibility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2697480" y="2743200"/>
            <a:ext cx="64008" cy="4572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2852928" y="2633472"/>
            <a:ext cx="2743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Same interface, adds extra behavior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687568" y="2743200"/>
            <a:ext cx="64008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5833872" y="2633472"/>
            <a:ext cx="2834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Both sides extend freely, independently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65760" y="3364992"/>
            <a:ext cx="8412480" cy="676656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02920" y="3364992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Typical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2697480" y="3474720"/>
            <a:ext cx="64008" cy="4572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2852928" y="3364992"/>
            <a:ext cx="2743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Auth, caching, logging, lazy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687568" y="3474720"/>
            <a:ext cx="64008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5833872" y="3364992"/>
            <a:ext cx="2834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Cross-platform or multi-channel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365760" y="4096512"/>
            <a:ext cx="8412480" cy="676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502920" y="4096512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Real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2697480" y="4206240"/>
            <a:ext cx="64008" cy="4572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2852928" y="4096512"/>
            <a:ext cx="27432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Door lock with admin &amp; block checks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687568" y="4206240"/>
            <a:ext cx="64008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5833872" y="4096512"/>
            <a:ext cx="28346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Notifications via Email / SMS / Push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Bridge Pattern — In Plain English</a:t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Separate the WHAT from the HOW — so each side can change without breaking the other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320040" y="1066800"/>
            <a:ext cx="26305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320040" y="1066800"/>
            <a:ext cx="263052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411480" y="1188720"/>
            <a:ext cx="243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☕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411480" y="1798560"/>
            <a:ext cx="243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Coffee Order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411480" y="2194560"/>
            <a:ext cx="24384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You order a “Large Latte” (WHAT). The barista decides whether to use an espresso machine or a Moka pot (HOW). You can change size without rewiring the kitchen.</a:t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411480" y="3157920"/>
            <a:ext cx="2438400" cy="27432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Order = Abstraction</a:t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3256920" y="1066800"/>
            <a:ext cx="26305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3256920" y="1066800"/>
            <a:ext cx="2630520" cy="91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3348360" y="1188720"/>
            <a:ext cx="243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📺</a:t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3348360" y="1798560"/>
            <a:ext cx="243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TV Remote</a:t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3348360" y="2194560"/>
            <a:ext cx="24384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You press “Volume Up” (WHAT). The remote sends a signal to whatever TV is connected (HOW). Swap the TV for a projector — the remote works unchanged.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3348360" y="3157920"/>
            <a:ext cx="2438400" cy="274320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Remote = Abstraction</a:t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6193800" y="1066800"/>
            <a:ext cx="26305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6193800" y="1066800"/>
            <a:ext cx="2630520" cy="91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6285240" y="1188720"/>
            <a:ext cx="243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🚚</a:t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6285240" y="1798560"/>
            <a:ext cx="243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Delivery App</a:t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6285240" y="2194560"/>
            <a:ext cx="24384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You place an order (WHAT). The app routes it to a bike, car, or drone (HOW). Adding a new delivery method doesn’t change how you order.</a:t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6285240" y="3157920"/>
            <a:ext cx="2438400" cy="274320"/>
          </a:xfrm>
          <a:prstGeom prst="rect">
            <a:avLst/>
          </a:prstGeom>
          <a:solidFill>
            <a:srgbClr val="FBE9E7"/>
          </a:solidFill>
          <a:ln cap="flat" cmpd="sng" w="95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Order = Abstraction</a:t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320040" y="448128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In all cases: change the WHAT or the HOW independently — neither side breaks the other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When to Use Each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365760" y="896112"/>
            <a:ext cx="3977640" cy="47548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548640" y="896112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Use PROXY when…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365760" y="1444752"/>
            <a:ext cx="3977640" cy="585216"/>
          </a:xfrm>
          <a:prstGeom prst="rect">
            <a:avLst/>
          </a:prstGeom>
          <a:solidFill>
            <a:srgbClr val="E0F4F1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600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/>
          <p:nvPr/>
        </p:nvSpPr>
        <p:spPr>
          <a:xfrm>
            <a:off x="822960" y="1444752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Controlling access to a sensitive object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365760" y="2121408"/>
            <a:ext cx="3977640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2276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3"/>
          <p:cNvSpPr/>
          <p:nvPr/>
        </p:nvSpPr>
        <p:spPr>
          <a:xfrm>
            <a:off x="822960" y="2121408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Lazy initialization — create only on first use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365760" y="2798064"/>
            <a:ext cx="3977640" cy="585216"/>
          </a:xfrm>
          <a:prstGeom prst="rect">
            <a:avLst/>
          </a:prstGeom>
          <a:solidFill>
            <a:srgbClr val="E0F4F1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29535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822960" y="2798064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Logging or auditing calls without touching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365760" y="3474720"/>
            <a:ext cx="3977640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6301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3"/>
          <p:cNvSpPr/>
          <p:nvPr/>
        </p:nvSpPr>
        <p:spPr>
          <a:xfrm>
            <a:off x="822960" y="3474720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Transparent caching of expensive operations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65760" y="4151376"/>
            <a:ext cx="3977640" cy="585216"/>
          </a:xfrm>
          <a:prstGeom prst="rect">
            <a:avLst/>
          </a:prstGeom>
          <a:solidFill>
            <a:srgbClr val="E0F4F1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43068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/>
          <p:nvPr/>
        </p:nvSpPr>
        <p:spPr>
          <a:xfrm>
            <a:off x="822960" y="4151376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Representing a remote or virtual object locally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800600" y="896112"/>
            <a:ext cx="3977640" cy="47548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4983480" y="896112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Use BRIDGE when…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800600" y="1444752"/>
            <a:ext cx="3977640" cy="585216"/>
          </a:xfrm>
          <a:prstGeom prst="rect">
            <a:avLst/>
          </a:prstGeom>
          <a:solidFill>
            <a:srgbClr val="FFF8E7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0328" y="1600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3"/>
          <p:cNvSpPr/>
          <p:nvPr/>
        </p:nvSpPr>
        <p:spPr>
          <a:xfrm>
            <a:off x="5257800" y="1444752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Avoiding n × m subclass explosion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4800600" y="2121408"/>
            <a:ext cx="3977640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0328" y="2276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3"/>
          <p:cNvSpPr/>
          <p:nvPr/>
        </p:nvSpPr>
        <p:spPr>
          <a:xfrm>
            <a:off x="5257800" y="2121408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Both abstraction and impl need to extend freely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4800600" y="2798064"/>
            <a:ext cx="3977640" cy="585216"/>
          </a:xfrm>
          <a:prstGeom prst="rect">
            <a:avLst/>
          </a:prstGeom>
          <a:solidFill>
            <a:srgbClr val="FFF8E7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0328" y="29535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3"/>
          <p:cNvSpPr/>
          <p:nvPr/>
        </p:nvSpPr>
        <p:spPr>
          <a:xfrm>
            <a:off x="5257800" y="2798064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Swapping implementations at runtime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800600" y="3474720"/>
            <a:ext cx="3977640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0328" y="36301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3"/>
          <p:cNvSpPr/>
          <p:nvPr/>
        </p:nvSpPr>
        <p:spPr>
          <a:xfrm>
            <a:off x="5257800" y="3474720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Building cross-platform or multi-channel systems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4800600" y="4151376"/>
            <a:ext cx="3977640" cy="585216"/>
          </a:xfrm>
          <a:prstGeom prst="rect">
            <a:avLst/>
          </a:prstGeom>
          <a:solidFill>
            <a:srgbClr val="FFF8E7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0328" y="43068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3"/>
          <p:cNvSpPr/>
          <p:nvPr/>
        </p:nvSpPr>
        <p:spPr>
          <a:xfrm>
            <a:off x="5257800" y="4151376"/>
            <a:ext cx="34015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Sharing one implementation across abstractions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1A3A5C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365760" y="914400"/>
            <a:ext cx="4041648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365760" y="914400"/>
            <a:ext cx="91440" cy="18288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566928" y="1170432"/>
            <a:ext cx="658368" cy="658368"/>
          </a:xfrm>
          <a:prstGeom prst="ellipse">
            <a:avLst/>
          </a:prstGeom>
          <a:solidFill>
            <a:srgbClr val="E0F4F1"/>
          </a:solidFill>
          <a:ln cap="flat" cmpd="sng" w="1015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225296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4"/>
          <p:cNvSpPr/>
          <p:nvPr/>
        </p:nvSpPr>
        <p:spPr>
          <a:xfrm>
            <a:off x="1371600" y="1078992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Proxy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1371600" y="1463040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= Same Interface, Extra Behavior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566928" y="1920240"/>
            <a:ext cx="3703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Wraps one object — the client never knows. Adds auth, logging, caching without modifying the real class.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773168" y="914400"/>
            <a:ext cx="4041648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4773168" y="914400"/>
            <a:ext cx="91440" cy="18288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4974336" y="1170432"/>
            <a:ext cx="658368" cy="658368"/>
          </a:xfrm>
          <a:prstGeom prst="ellipse">
            <a:avLst/>
          </a:prstGeom>
          <a:solidFill>
            <a:srgbClr val="FFF8E7"/>
          </a:solidFill>
          <a:ln cap="flat" cmpd="sng" w="101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6" name="Google Shape;4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25296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4"/>
          <p:cNvSpPr/>
          <p:nvPr/>
        </p:nvSpPr>
        <p:spPr>
          <a:xfrm>
            <a:off x="5779008" y="1078992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Bridge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5779008" y="1463040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= Two Hierarchies, One Link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4974336" y="1920240"/>
            <a:ext cx="3703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Abstraction and implementation evolve independently. Adding new combinations requires just one new class.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65760" y="2944368"/>
            <a:ext cx="4041648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365760" y="2944368"/>
            <a:ext cx="91440" cy="18288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566928" y="3200400"/>
            <a:ext cx="658368" cy="658368"/>
          </a:xfrm>
          <a:prstGeom prst="ellipse">
            <a:avLst/>
          </a:prstGeom>
          <a:solidFill>
            <a:srgbClr val="E0F4F1"/>
          </a:solidFill>
          <a:ln cap="flat" cmpd="sng" w="1015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" y="3255264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4"/>
          <p:cNvSpPr/>
          <p:nvPr/>
        </p:nvSpPr>
        <p:spPr>
          <a:xfrm>
            <a:off x="1371600" y="3108960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Access control?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1371600" y="3493008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Reach for Proxy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566928" y="3950208"/>
            <a:ext cx="3703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When you need to gate, audit, or defer operations on a specific object.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773168" y="2944368"/>
            <a:ext cx="4041648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4773168" y="2944368"/>
            <a:ext cx="91440" cy="18288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4974336" y="3200400"/>
            <a:ext cx="658368" cy="658368"/>
          </a:xfrm>
          <a:prstGeom prst="ellipse">
            <a:avLst/>
          </a:prstGeom>
          <a:solidFill>
            <a:srgbClr val="FFF8E7"/>
          </a:solidFill>
          <a:ln cap="flat" cmpd="sng" w="101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255264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4"/>
          <p:cNvSpPr/>
          <p:nvPr/>
        </p:nvSpPr>
        <p:spPr>
          <a:xfrm>
            <a:off x="5779008" y="3108960"/>
            <a:ext cx="29077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5A623"/>
                </a:solidFill>
                <a:latin typeface="Trebuchet MS"/>
                <a:ea typeface="Trebuchet MS"/>
                <a:cs typeface="Trebuchet MS"/>
                <a:sym typeface="Trebuchet MS"/>
              </a:rPr>
              <a:t>Combinatorial growth?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5779008" y="3493008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Reach for 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4974336" y="3950208"/>
            <a:ext cx="3703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8D"/>
                </a:solidFill>
                <a:latin typeface="Calibri"/>
                <a:ea typeface="Calibri"/>
                <a:cs typeface="Calibri"/>
                <a:sym typeface="Calibri"/>
              </a:rPr>
              <a:t>N features × M channels — avoid the subclass explosion with two clean hierarchies.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457200" y="4910328"/>
            <a:ext cx="82296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patterns manage complexity — Proxy manages access, Bridge manages structure.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