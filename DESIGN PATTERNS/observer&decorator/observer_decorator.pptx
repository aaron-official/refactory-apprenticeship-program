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80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80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003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06d1b4a46_0_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06d1b4a4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06d1b4a46_0_7:notes"/>
          <p:cNvSpPr/>
          <p:nvPr>
            <p:ph idx="2" type="sldImg"/>
          </p:nvPr>
        </p:nvSpPr>
        <p:spPr>
          <a:xfrm>
            <a:off x="686003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06d1b4a4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06d1b4a46_0_11:notes"/>
          <p:cNvSpPr/>
          <p:nvPr>
            <p:ph idx="2" type="sldImg"/>
          </p:nvPr>
        </p:nvSpPr>
        <p:spPr>
          <a:xfrm>
            <a:off x="686003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d06d1b4a4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d06d1b4a46_0_15:notes"/>
          <p:cNvSpPr/>
          <p:nvPr>
            <p:ph idx="2" type="sldImg"/>
          </p:nvPr>
        </p:nvSpPr>
        <p:spPr>
          <a:xfrm>
            <a:off x="686003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d06d1b4a4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0cea1414e_0_5:notes"/>
          <p:cNvSpPr/>
          <p:nvPr>
            <p:ph idx="2" type="sldImg"/>
          </p:nvPr>
        </p:nvSpPr>
        <p:spPr>
          <a:xfrm>
            <a:off x="686003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d0cea1414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0cea1414e_0_9:notes"/>
          <p:cNvSpPr/>
          <p:nvPr>
            <p:ph idx="2" type="sldImg"/>
          </p:nvPr>
        </p:nvSpPr>
        <p:spPr>
          <a:xfrm>
            <a:off x="686003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d0cea1414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06d1b4a46_0_32:notes"/>
          <p:cNvSpPr/>
          <p:nvPr>
            <p:ph idx="2" type="sldImg"/>
          </p:nvPr>
        </p:nvSpPr>
        <p:spPr>
          <a:xfrm>
            <a:off x="686003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06d1b4a4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d06d1b4a46_0_36:notes"/>
          <p:cNvSpPr/>
          <p:nvPr>
            <p:ph idx="2" type="sldImg"/>
          </p:nvPr>
        </p:nvSpPr>
        <p:spPr>
          <a:xfrm>
            <a:off x="686003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d06d1b4a4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1775354"/>
            <a:ext cx="7772400" cy="122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238500"/>
            <a:ext cx="6400800" cy="14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333500"/>
            <a:ext cx="8229600" cy="3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3672417"/>
            <a:ext cx="7772400" cy="11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422261"/>
            <a:ext cx="77724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333500"/>
            <a:ext cx="4038600" cy="3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333500"/>
            <a:ext cx="4038600" cy="3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279261"/>
            <a:ext cx="4040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1812396"/>
            <a:ext cx="4040100" cy="3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279261"/>
            <a:ext cx="40419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1812396"/>
            <a:ext cx="4041900" cy="32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27542"/>
            <a:ext cx="3008400" cy="968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27542"/>
            <a:ext cx="5111700" cy="4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195917"/>
            <a:ext cx="3008400" cy="39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000500"/>
            <a:ext cx="54864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510646"/>
            <a:ext cx="5486400" cy="34290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4472782"/>
            <a:ext cx="54864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686200" y="-895500"/>
            <a:ext cx="3771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220000" y="1638265"/>
            <a:ext cx="4876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029000" y="-342935"/>
            <a:ext cx="48762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333500"/>
            <a:ext cx="8229600" cy="3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5296958"/>
            <a:ext cx="2895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5296958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 b="30" l="0" r="0" t="20"/>
          <a:stretch/>
        </p:blipFill>
        <p:spPr>
          <a:xfrm>
            <a:off x="0" y="-975"/>
            <a:ext cx="9144000" cy="5716975"/>
          </a:xfrm>
          <a:prstGeom prst="rect">
            <a:avLst/>
          </a:prstGeom>
          <a:solidFill>
            <a:srgbClr val="00669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715000"/>
          </a:xfrm>
          <a:prstGeom prst="rect">
            <a:avLst/>
          </a:prstGeom>
          <a:solidFill>
            <a:srgbClr val="00669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4" name="Google Shape;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ke the background white then text and illustrations blue"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715000"/>
          </a:xfrm>
          <a:prstGeom prst="rect">
            <a:avLst/>
          </a:prstGeom>
          <a:solidFill>
            <a:srgbClr val="00669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ean educational slide titled &quot;Decorator Pattern&quot; with subtitle &quot;A Structural Design Pattern.&quot; The slide has four sections. Top-left &quot;What it does&quot;: adds new behavior to objects at runtime without altering their code. Bottom-left &quot;Why use it&quot;: avoids class explosion by wrapping objects instead of creating subclasses. Center illustration: a supermarket order box being wrapped in layers — first a plain cardboard box labeled ConcreteComponent (the base order), then a wrapping layer labeled Decorator, then two outer wrap layers labeled &quot;Gift Wrapping&quot; and &quot;Express Delivery&quot; as ConcreteDecorators. Arrows show each layer being added on top of the previous one. Right side &quot;Key Components&quot; with icons: Component, ConcreteComponent, Decorator, ConcreteDecorator. White background, bold dark headings, professional infographic style, matching the layout of a typical design patterns educational poster."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ean educational slide titled &quot;Decorator Pattern – Real Life Examples&quot; with subtitle &quot;Supermarket order system.&quot; The slide shows a horizontal flow with arrows between items. Start with a plain cardboard delivery box on the left labeled &quot;Base: Order.&quot; Then three sequential add-on steps flowing left to right, each showing the same box being wrapped with an additional layer. Step 1: a gift wrap layer dropping onto the box from above, labeled &quot;Add-on: Gift Wrapping&quot; with caption &quot;Wraps the base order object.&quot; Step 2: the box now with a priority sticker layer, labeled &quot;Add-on: Express Delivery&quot; with caption &quot;Wraps the base order object.&quot; Step 3: the box with an insurance tag layer, labeled &quot;Add-on: Insurance&quot; with caption &quot;Wraps the base order object.&quot; Blue arrows connecting each step left to right. At the bottom the text &quot;Allows many combinations without modifying the Order class.&quot; White background, bold dark blue heading, clean infographic illustration style, professional educational poster layout, no text errors"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9"/>
          <p:cNvPicPr preferRelativeResize="0"/>
          <p:nvPr/>
        </p:nvPicPr>
        <p:blipFill rotWithShape="1">
          <a:blip r:embed="rId3">
            <a:alphaModFix/>
          </a:blip>
          <a:srcRect b="30" l="0" r="0" t="40"/>
          <a:stretch/>
        </p:blipFill>
        <p:spPr>
          <a:xfrm>
            <a:off x="0" y="0"/>
            <a:ext cx="9169450" cy="5715000"/>
          </a:xfrm>
          <a:prstGeom prst="rect">
            <a:avLst/>
          </a:prstGeom>
          <a:solidFill>
            <a:srgbClr val="00669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30" l="0" r="0" t="40"/>
          <a:stretch/>
        </p:blipFill>
        <p:spPr>
          <a:xfrm>
            <a:off x="0" y="-250"/>
            <a:ext cx="9144000" cy="5715000"/>
          </a:xfrm>
          <a:prstGeom prst="rect">
            <a:avLst/>
          </a:prstGeom>
          <a:solidFill>
            <a:srgbClr val="00669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